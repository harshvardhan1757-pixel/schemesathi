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1C3A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18305C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solidFill>
            <a:srgbClr val="1C3A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+  RAG  +  MULTILINGUAL SUPPORT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Language-Agnostic Chatbot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Government Schemes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SchemeSaathi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41248" y="3767328"/>
            <a:ext cx="237744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"Government schemes, explained in your language."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49640" y="1417320"/>
            <a:ext cx="3063240" cy="393192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53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49640" y="1417320"/>
            <a:ext cx="3063240" cy="502920"/>
          </a:xfrm>
          <a:prstGeom prst="roundRect">
            <a:avLst>
              <a:gd name="adj" fmla="val 29091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1673352"/>
            <a:ext cx="306324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5944" y="1517904"/>
            <a:ext cx="310896" cy="310896"/>
          </a:xfrm>
          <a:prstGeom prst="ellipse">
            <a:avLst/>
          </a:prstGeom>
          <a:solidFill>
            <a:srgbClr val="0B4A6E"/>
          </a:solidFill>
          <a:ln/>
        </p:spPr>
      </p:sp>
      <p:pic>
        <p:nvPicPr>
          <p:cNvPr id="14" name="Image 0" descr="/home/claude/schemesaathi/icons/comment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8123" y="1580083"/>
            <a:ext cx="186538" cy="1865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79992" y="14996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32520" y="2130552"/>
            <a:ext cx="2377440" cy="566928"/>
          </a:xfrm>
          <a:prstGeom prst="roundRect">
            <a:avLst>
              <a:gd name="adj" fmla="val 19355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8933688" y="22219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किसानों के लिए कौन सी योजनाएं हैं?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32520" y="28346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33688" y="292608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आपके लिए 3 प्रमुख योजनाएं मिलीं — PM-KISAN, PMFBY और किसान क्रेडिट कार्ड।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32520" y="3849624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933688" y="39410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farmers in English?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32520" y="4416552"/>
            <a:ext cx="2697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33688" y="450799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matching schemes with eligibility &amp; sources.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49640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your language →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" y="6291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 |   University / College   |   Hackathon Name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 exist. Discovery doesn’t.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information is scattered across many government sources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76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struggle to find the right scheme for their situation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871216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often dense and hard to understand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10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speakers face an added language barrier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770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benefits &amp; application steps are confusing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00584" cy="100584"/>
          </a:xfrm>
          <a:prstGeom prst="ellipse">
            <a:avLst/>
          </a:prstGeom>
          <a:solidFill>
            <a:srgbClr val="C2491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439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miss out on schemes they actually qualify for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20840" y="1325880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325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61704" y="1819656"/>
            <a:ext cx="164592" cy="1371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1956816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95681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Information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61704" y="2450592"/>
            <a:ext cx="164592" cy="1371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2587752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258775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Govt. Sources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1704" y="3081528"/>
            <a:ext cx="164592" cy="1371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3218688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321868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Info Barrier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61704" y="3712464"/>
            <a:ext cx="164592" cy="1371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720840" y="3849624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384962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061704" y="4343400"/>
            <a:ext cx="164592" cy="1371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4480560"/>
            <a:ext cx="4846320" cy="475488"/>
          </a:xfrm>
          <a:prstGeom prst="roundRect">
            <a:avLst>
              <a:gd name="adj" fmla="val 17308"/>
            </a:avLst>
          </a:prstGeom>
          <a:solidFill>
            <a:srgbClr val="2E1408"/>
          </a:solidFill>
          <a:ln w="12700">
            <a:solidFill>
              <a:srgbClr val="C2491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44805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553212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not the lack of schemes — it is the difficulty of discovering and understanding them.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information availability to information accessibility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66360" cy="420624"/>
          </a:xfrm>
          <a:prstGeom prst="roundRect">
            <a:avLst>
              <a:gd name="adj" fmla="val 19565"/>
            </a:avLst>
          </a:prstGeom>
          <a:solidFill>
            <a:srgbClr val="C24914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has a question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49524" y="2258568"/>
            <a:ext cx="164592" cy="146304"/>
          </a:xfrm>
          <a:prstGeom prst="downArrow">
            <a:avLst/>
          </a:prstGeom>
          <a:solidFill>
            <a:srgbClr val="E39A7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04872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04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multiple websites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49524" y="2880360"/>
            <a:ext cx="164592" cy="146304"/>
          </a:xfrm>
          <a:prstGeom prst="downArrow">
            <a:avLst/>
          </a:prstGeom>
          <a:solidFill>
            <a:srgbClr val="E39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26664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0266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lengthy information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49524" y="3502152"/>
            <a:ext cx="164592" cy="146304"/>
          </a:xfrm>
          <a:prstGeom prst="downArrow">
            <a:avLst/>
          </a:prstGeom>
          <a:solidFill>
            <a:srgbClr val="E39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648456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648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understand eligibility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49524" y="4123944"/>
            <a:ext cx="164592" cy="146304"/>
          </a:xfrm>
          <a:prstGeom prst="downArrow">
            <a:avLst/>
          </a:prstGeom>
          <a:solidFill>
            <a:srgbClr val="E39A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70248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270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schemes manually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049524" y="4745736"/>
            <a:ext cx="164592" cy="146304"/>
          </a:xfrm>
          <a:prstGeom prst="downArrow">
            <a:avLst/>
          </a:prstGeom>
          <a:solidFill>
            <a:srgbClr val="E39A7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89204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892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for application info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1234440"/>
            <a:ext cx="5166360" cy="420624"/>
          </a:xfrm>
          <a:prstGeom prst="roundRect">
            <a:avLst>
              <a:gd name="adj" fmla="val 1956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123444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SchemeSaathi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178308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1783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asks naturally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55964" y="2258568"/>
            <a:ext cx="164592" cy="146304"/>
          </a:xfrm>
          <a:prstGeom prst="downArrow">
            <a:avLst/>
          </a:prstGeom>
          <a:solidFill>
            <a:srgbClr val="7FDCC6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2404872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2404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in their own language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855964" y="2880360"/>
            <a:ext cx="164592" cy="146304"/>
          </a:xfrm>
          <a:prstGeom prst="downArrow">
            <a:avLst/>
          </a:prstGeom>
          <a:solidFill>
            <a:srgbClr val="7FDCC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3026664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30266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the question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855964" y="3502152"/>
            <a:ext cx="164592" cy="146304"/>
          </a:xfrm>
          <a:prstGeom prst="downArrow">
            <a:avLst/>
          </a:prstGeom>
          <a:solidFill>
            <a:srgbClr val="7FDCC6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3648456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3648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schemes retrieved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855964" y="4123944"/>
            <a:ext cx="164592" cy="146304"/>
          </a:xfrm>
          <a:prstGeom prst="downArrow">
            <a:avLst/>
          </a:prstGeom>
          <a:solidFill>
            <a:srgbClr val="7FDCC6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5080" y="4270248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83680" y="4270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it simply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855964" y="4745736"/>
            <a:ext cx="164592" cy="146304"/>
          </a:xfrm>
          <a:prstGeom prst="downArrow">
            <a:avLst/>
          </a:prstGeom>
          <a:solidFill>
            <a:srgbClr val="7FDCC6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5080" y="489204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83680" y="4892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their language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convert information retrieval into a conversational experience.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SchemeSaathi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AI chatbot for discovering and understanding government schemes.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49424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7" name="Image 0" descr="/home/claude/schemesaathi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345436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011680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naturally, in conversation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23944" y="2011680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88536" y="2249424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1" name="Image 1" descr="/home/claude/schemesaathi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48" y="234543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73752" y="2011680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Marathi, Tamil &amp; more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090672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5" name="Image 2" descr="/home/claude/schemesaathi/icons/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42442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090672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schemes via semantic search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123944" y="3090672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88536" y="332841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9" name="Image 3" descr="/home/claude/schemesaathi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342442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73752" y="3090672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AI-generated explanations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169664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3232" y="4407408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3" name="Image 4" descr="/home/claude/schemesaathi/icons/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503420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8448" y="4169664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the same language asked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123944" y="4169664"/>
            <a:ext cx="3429000" cy="932688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288536" y="4407408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7" name="Image 5" descr="/home/claude/schemesaathi/icons/fileLin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548" y="4503420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73752" y="4169664"/>
            <a:ext cx="2514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relevant source information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9552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7955280" y="2395728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795528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701784" y="2825496"/>
            <a:ext cx="164592" cy="10058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3" name="Shape 25"/>
          <p:cNvSpPr/>
          <p:nvPr/>
        </p:nvSpPr>
        <p:spPr>
          <a:xfrm>
            <a:off x="7955280" y="2930652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7955280" y="29306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9701784" y="3360420"/>
            <a:ext cx="164592" cy="10058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6" name="Shape 28"/>
          <p:cNvSpPr/>
          <p:nvPr/>
        </p:nvSpPr>
        <p:spPr>
          <a:xfrm>
            <a:off x="7955280" y="3465576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7955280" y="34655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9701784" y="3895344"/>
            <a:ext cx="164592" cy="10058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9" name="Shape 31"/>
          <p:cNvSpPr/>
          <p:nvPr/>
        </p:nvSpPr>
        <p:spPr>
          <a:xfrm>
            <a:off x="7955280" y="4000500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7955280" y="40005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9701784" y="4430268"/>
            <a:ext cx="164592" cy="10058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42" name="Shape 34"/>
          <p:cNvSpPr/>
          <p:nvPr/>
        </p:nvSpPr>
        <p:spPr>
          <a:xfrm>
            <a:off x="7955280" y="4535424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7955280" y="45354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9701784" y="4965192"/>
            <a:ext cx="164592" cy="10058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45" name="Shape 37"/>
          <p:cNvSpPr/>
          <p:nvPr/>
        </p:nvSpPr>
        <p:spPr>
          <a:xfrm>
            <a:off x="7955280" y="5070348"/>
            <a:ext cx="365760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7955280" y="50703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chatbot. Multiple languages. Government-focused answers.</a:t>
            </a:r>
            <a:endParaRPr lang="en-US" sz="1600" dirty="0"/>
          </a:p>
        </p:txBody>
      </p:sp>
      <p:sp>
        <p:nvSpPr>
          <p:cNvPr id="49" name="Text 4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for the citizen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1947672"/>
            <a:ext cx="566928" cy="566928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6" name="Image 0" descr="/home/claude/schemesaathi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31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99008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 naturally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“किसानों के लिए कौन सी सरकारी योजनाएं उपलब्ध हैं?”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47188" y="3300984"/>
            <a:ext cx="10972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2770632" y="169164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9584" y="1947672"/>
            <a:ext cx="566928" cy="566928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3" name="Image 1" descr="/home/claude/schemesaathi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308" y="207239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2651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UNDERSTAND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35224" y="299008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language &amp; processes the question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69180" y="3300984"/>
            <a:ext cx="10972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3"/>
          <p:cNvSpPr/>
          <p:nvPr/>
        </p:nvSpPr>
        <p:spPr>
          <a:xfrm>
            <a:off x="4992624" y="169164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51576" y="1947672"/>
            <a:ext cx="566928" cy="566928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9" name="Image 2" descr="/home/claude/schemesaathi/icons/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00" y="2072396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02352" y="2651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57216" y="299008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scheme info retrieved from knowledge base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91172" y="3300984"/>
            <a:ext cx="10972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18"/>
          <p:cNvSpPr/>
          <p:nvPr/>
        </p:nvSpPr>
        <p:spPr>
          <a:xfrm>
            <a:off x="7214616" y="169164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73568" y="1947672"/>
            <a:ext cx="566928" cy="566928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5" name="Image 3" descr="/home/claude/schemesaathi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292" y="2072396"/>
            <a:ext cx="317480" cy="317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24344" y="2651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79208" y="299008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 clear answer from retrieved context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313164" y="3300984"/>
            <a:ext cx="109728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9" name="Shape 23"/>
          <p:cNvSpPr/>
          <p:nvPr/>
        </p:nvSpPr>
        <p:spPr>
          <a:xfrm>
            <a:off x="9436608" y="169164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E3A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95560" y="1947672"/>
            <a:ext cx="566928" cy="566928"/>
          </a:xfrm>
          <a:prstGeom prst="ellipse">
            <a:avLst/>
          </a:prstGeom>
          <a:solidFill>
            <a:srgbClr val="0A4A3B"/>
          </a:solidFill>
          <a:ln/>
        </p:spPr>
      </p:sp>
      <p:pic>
        <p:nvPicPr>
          <p:cNvPr id="31" name="Image 4" descr="/home/claude/schemesaathi/icons/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284" y="2072396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46336" y="2651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RESPOND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601200" y="299008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8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in the user’s original language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complex search required.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multiple Indian languages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67335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schemes are available for farmers?”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843784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4378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75234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“किसानों के लिए कौन सी सरकारी योजनाएं उपलब्ध हैं?”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922776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9227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831336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“शेतकṟ्यांसाठी कोणत्या सरकारी योजना उपलब्ध आहेत?”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500176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50017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91032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“விவசாயிகளுக்கு என்ன அரசாங்க திட்டங்கள் உள்ளன?”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1463040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46304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Language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47404" y="2011680"/>
            <a:ext cx="164592" cy="14630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2167128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216712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47404" y="2715768"/>
            <a:ext cx="164592" cy="14630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2871216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871216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Query Understanding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47404" y="3419856"/>
            <a:ext cx="164592" cy="14630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575304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57530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47404" y="4123944"/>
            <a:ext cx="164592" cy="14630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4279392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427939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47404" y="4828032"/>
            <a:ext cx="164592" cy="146304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4983480"/>
            <a:ext cx="5166360" cy="530352"/>
          </a:xfrm>
          <a:prstGeom prst="roundRect">
            <a:avLst>
              <a:gd name="adj" fmla="val 1551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46520" y="498348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 Original Language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should not need to change their language to access information.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Retrieval-Augmented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answering entirely from general knowledge, SchemeSaathi first searches its own government-scheme knowledge 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295144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7" name="Image 0" descr="/home/claude/schemesaathi/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147" y="2379635"/>
            <a:ext cx="233355" cy="2333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19456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95528" y="2811780"/>
            <a:ext cx="164592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92608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" y="3026664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2" name="Image 1" descr="/home/claude/schemesaathi/icons/vector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3111155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292608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into Embedding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95528" y="3543300"/>
            <a:ext cx="164592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365760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6656" y="3758184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7" name="Image 2" descr="/home/claude/schemesaathi/icons/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7" y="3842675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65760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95528" y="4274820"/>
            <a:ext cx="164592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438912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" y="4489704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2" name="Image 3" descr="/home/claude/schemesaathi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4574195"/>
            <a:ext cx="233355" cy="23335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38912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Scheme Info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95528" y="5006340"/>
            <a:ext cx="164592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5" name="Shape 19"/>
          <p:cNvSpPr/>
          <p:nvPr/>
        </p:nvSpPr>
        <p:spPr>
          <a:xfrm>
            <a:off x="548640" y="512064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6656" y="5221224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7" name="Image 4" descr="/home/claude/schemesaathi/icons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47" y="5305715"/>
            <a:ext cx="233355" cy="23335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07008" y="512064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Context to Gemini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95528" y="5737860"/>
            <a:ext cx="164592" cy="109728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85216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0E3A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76656" y="5952744"/>
            <a:ext cx="402336" cy="402336"/>
          </a:xfrm>
          <a:prstGeom prst="ellipse">
            <a:avLst/>
          </a:prstGeom>
          <a:solidFill>
            <a:srgbClr val="0A4A3B"/>
          </a:solidFill>
          <a:ln/>
        </p:spPr>
      </p:sp>
      <p:pic>
        <p:nvPicPr>
          <p:cNvPr id="32" name="Image 5" descr="/home/claude/schemesaathi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47" y="6037235"/>
            <a:ext cx="233355" cy="23335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07008" y="585216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7635240" y="1371600"/>
            <a:ext cx="3977640" cy="1417320"/>
          </a:xfrm>
          <a:prstGeom prst="roundRect">
            <a:avLst>
              <a:gd name="adj" fmla="val 5806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7863840" y="13716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the chatbot’s response in retrieved information from our curated dataset — not just general LLM knowledge.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763524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7653528" y="34198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0"/>
          <p:cNvSpPr/>
          <p:nvPr/>
        </p:nvSpPr>
        <p:spPr>
          <a:xfrm>
            <a:off x="7863840" y="3291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govt. scheme dataset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7653528" y="38039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2"/>
          <p:cNvSpPr/>
          <p:nvPr/>
        </p:nvSpPr>
        <p:spPr>
          <a:xfrm>
            <a:off x="7863840" y="36758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scheme documents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7653528" y="41879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34"/>
          <p:cNvSpPr/>
          <p:nvPr/>
        </p:nvSpPr>
        <p:spPr>
          <a:xfrm>
            <a:off x="7863840" y="4059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653528" y="45720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36"/>
          <p:cNvSpPr/>
          <p:nvPr/>
        </p:nvSpPr>
        <p:spPr>
          <a:xfrm>
            <a:off x="7863840" y="44439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7653528" y="49560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38"/>
          <p:cNvSpPr/>
          <p:nvPr/>
        </p:nvSpPr>
        <p:spPr>
          <a:xfrm>
            <a:off x="7863840" y="48280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7653528" y="53400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0"/>
          <p:cNvSpPr/>
          <p:nvPr/>
        </p:nvSpPr>
        <p:spPr>
          <a:xfrm>
            <a:off x="7863840" y="5212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for generation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SchemeSaathi finds the right scheme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2E140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67128"/>
            <a:ext cx="4617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58568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for farmers”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340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0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only exact words — may miss relevant schemes phrased differently.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0E3A2E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2167128"/>
            <a:ext cx="4617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2258568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financial help for farming”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273405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C9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&amp; intent → retrieves Farmers, Agricultural Support, Financial Assistance &amp; Farming Benefits.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05812" y="4101084"/>
            <a:ext cx="100584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410968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4120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8140" y="4101084"/>
            <a:ext cx="100584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273296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46448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0468" y="4101084"/>
            <a:ext cx="100584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135624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08776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 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2796" y="4101084"/>
            <a:ext cx="100584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7997952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71104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Documents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55124" y="4101084"/>
            <a:ext cx="100584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860280" y="3794760"/>
            <a:ext cx="175260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33432" y="3794760"/>
            <a:ext cx="1606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search by meaning, not just matching words.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64792"/>
            <a:ext cx="365760" cy="365760"/>
          </a:xfrm>
          <a:prstGeom prst="ellipse">
            <a:avLst/>
          </a:prstGeom>
          <a:solidFill>
            <a:srgbClr val="0B4A6E"/>
          </a:solidFill>
          <a:ln/>
        </p:spPr>
      </p:sp>
      <p:pic>
        <p:nvPicPr>
          <p:cNvPr id="6" name="Image 0" descr="/home/claude/schemesaathi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6" y="1841602"/>
            <a:ext cx="212141" cy="212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340864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551176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2376" y="2624328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1" name="Image 1" descr="/home/claude/schemesaathi/icons/mobile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6" y="2701138"/>
            <a:ext cx="212141" cy="212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/ Next.js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200400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3410712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483864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6" name="Image 2" descr="/home/claude/schemesaathi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6" y="3560674"/>
            <a:ext cx="212141" cy="2121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10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Node/Express or FastAPI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059936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4270248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343400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1" name="Image 3" descr="/home/claude/schemesaathi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6" y="4420210"/>
            <a:ext cx="212141" cy="2121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2702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22960" y="4919472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5129784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" y="5202936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6" name="Image 4" descr="/home/claude/schemesaathi/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6" y="5279746"/>
            <a:ext cx="212141" cy="21214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51297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/ Query Processing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720840" y="1691640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803136" y="1764792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0" name="Image 5" descr="/home/claude/schemesaathi/icons/vector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946" y="1841602"/>
            <a:ext cx="212141" cy="21214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1691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Semantic Search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903720" y="2340864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3" name="Shape 25"/>
          <p:cNvSpPr/>
          <p:nvPr/>
        </p:nvSpPr>
        <p:spPr>
          <a:xfrm>
            <a:off x="6720840" y="2551176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803136" y="2624328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5" name="Image 6" descr="/home/claude/schemesaathi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9946" y="2701138"/>
            <a:ext cx="212141" cy="21214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69480" y="25511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903720" y="3200400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38" name="Shape 29"/>
          <p:cNvSpPr/>
          <p:nvPr/>
        </p:nvSpPr>
        <p:spPr>
          <a:xfrm>
            <a:off x="6720840" y="3410712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803136" y="3483864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40" name="Image 7" descr="/home/claude/schemesaathi/icons/fileLin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9946" y="3560674"/>
            <a:ext cx="212141" cy="21214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269480" y="3410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Govt. Schemes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6903720" y="4059936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43" name="Shape 33"/>
          <p:cNvSpPr/>
          <p:nvPr/>
        </p:nvSpPr>
        <p:spPr>
          <a:xfrm>
            <a:off x="6720840" y="4270248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6803136" y="4343400"/>
            <a:ext cx="365760" cy="36576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45" name="Image 8" descr="/home/claude/schemesaathi/icons/robo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9946" y="4420210"/>
            <a:ext cx="212141" cy="212141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269480" y="42702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903720" y="4919472"/>
            <a:ext cx="164592" cy="21031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48" name="Shape 37"/>
          <p:cNvSpPr/>
          <p:nvPr/>
        </p:nvSpPr>
        <p:spPr>
          <a:xfrm>
            <a:off x="6720840" y="5129784"/>
            <a:ext cx="4892040" cy="640080"/>
          </a:xfrm>
          <a:prstGeom prst="roundRect">
            <a:avLst>
              <a:gd name="adj" fmla="val 12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6803136" y="5202936"/>
            <a:ext cx="365760" cy="365760"/>
          </a:xfrm>
          <a:prstGeom prst="ellipse">
            <a:avLst/>
          </a:prstGeom>
          <a:solidFill>
            <a:srgbClr val="0B4A6E"/>
          </a:solidFill>
          <a:ln/>
        </p:spPr>
      </p:sp>
      <p:pic>
        <p:nvPicPr>
          <p:cNvPr id="50" name="Image 9" descr="/home/claude/schemesaathi/icons/circle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9946" y="5279746"/>
            <a:ext cx="212141" cy="212141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269480" y="51297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 User Language</a:t>
            </a:r>
            <a:endParaRPr lang="en-US" sz="1200" dirty="0"/>
          </a:p>
        </p:txBody>
      </p:sp>
      <p:sp>
        <p:nvSpPr>
          <p:cNvPr id="52" name="Shape 40"/>
          <p:cNvSpPr/>
          <p:nvPr/>
        </p:nvSpPr>
        <p:spPr>
          <a:xfrm flipV="1">
            <a:off x="5532120" y="5431536"/>
            <a:ext cx="1188720" cy="-3438144"/>
          </a:xfrm>
          <a:prstGeom prst="bentConnector3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3" name="Text 41"/>
          <p:cNvSpPr/>
          <p:nvPr/>
        </p:nvSpPr>
        <p:spPr>
          <a:xfrm>
            <a:off x="5577840" y="5129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continues →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6720840" y="6099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is delivered back to the User in their original language.</a:t>
            </a:r>
            <a:endParaRPr lang="en-US" sz="1150" dirty="0"/>
          </a:p>
        </p:txBody>
      </p:sp>
      <p:sp>
        <p:nvSpPr>
          <p:cNvPr id="55" name="Shape 43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6" name="Text 4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pipeline: from a citizen’s question to a grounded, translated answer.</a:t>
            </a:r>
            <a:endParaRPr lang="en-US" sz="1300" dirty="0"/>
          </a:p>
        </p:txBody>
      </p:sp>
      <p:sp>
        <p:nvSpPr>
          <p:cNvPr id="57" name="Text 4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6" name="Image 0" descr="/home/claude/schemesaathi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836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965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3774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/ Next.js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" y="26791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TypeScript / JavaScript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298094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 &amp; CSS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6002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1783080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3" name="Image 1" descr="/home/claude/schemesaathi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8836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8344" y="181965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7136" y="23774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Express.js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17136" y="26791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 Python + FastAPI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73568" y="16002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1783080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9" name="Image 2" descr="/home/claude/schemesaathi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8836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50808" y="181965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29600" y="23774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Google Gemini API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7398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392277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4" name="Image 3" descr="/home/claude/schemesaathi/icons/layerGro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2336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395935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NLP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04672" y="4517136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Sentence Transformers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04672" y="481888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Embeddings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04672" y="512064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FAISS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04672" y="54223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Search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261104" y="37398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62272" y="392277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2" name="Image 4" descr="/home/claude/schemesaathi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4023360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38344" y="395935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517136" y="4517136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Curated govt. scheme dataset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7973568" y="3739896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174736" y="392277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7" name="Image 5" descr="/home/claude/schemesaathi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023360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50808" y="395935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229600" y="4517136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Vercel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229600" y="481888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 / Railway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Development: Git · GitHub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government scheme knowledge 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local dataset of approximately 10–15 government schemes.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26664" y="2436876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23744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237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26664" y="2948940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35808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0358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26664" y="3461004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47872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478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26664" y="3973068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59936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599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Info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26664" y="4485132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572000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720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Documents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26664" y="4997196"/>
            <a:ext cx="164592" cy="82296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5084064"/>
            <a:ext cx="5120640" cy="420624"/>
          </a:xfrm>
          <a:prstGeom prst="roundRect">
            <a:avLst>
              <a:gd name="adj" fmla="val 19565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0840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Categories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18745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01384" y="2034540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28" name="Image 0" descr="/home/claude/schemesaathi/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135124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068312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034272" y="18745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180576" y="2034540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2" name="Image 1" descr="/home/claude/schemesaathi/icons/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135124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747504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355080" y="2770632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501384" y="2930652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36" name="Image 2" descr="/home/claude/schemesaathi/icons/heartPul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031236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68312" y="27706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9034272" y="2770632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180576" y="2930652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40" name="Image 3" descr="/home/claude/schemesaathi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031236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747504" y="27706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6355080" y="3666744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501384" y="3826764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44" name="Image 4" descr="/home/claude/schemesaathi/icons/childReach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927348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068312" y="366674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Child Welfare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9034272" y="3666744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9180576" y="3826764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48" name="Image 5" descr="/home/claude/schemesaathi/icons/handHolding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3927348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747504" y="366674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Assistance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6355080" y="4562856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501384" y="472287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52" name="Image 6" descr="/home/claude/schemesaathi/icons/hou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823460"/>
            <a:ext cx="256032" cy="25603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7068312" y="45628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150" dirty="0"/>
          </a:p>
        </p:txBody>
      </p:sp>
      <p:sp>
        <p:nvSpPr>
          <p:cNvPr id="54" name="Shape 45"/>
          <p:cNvSpPr/>
          <p:nvPr/>
        </p:nvSpPr>
        <p:spPr>
          <a:xfrm>
            <a:off x="9034272" y="4562856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9180576" y="4722876"/>
            <a:ext cx="457200" cy="45720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56" name="Image 7" descr="/home/claude/schemesaathi/icons/shieldHalv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4823460"/>
            <a:ext cx="256032" cy="256032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9747504" y="45628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</a:t>
            </a:r>
            <a:endParaRPr lang="en-US" sz="1150" dirty="0"/>
          </a:p>
        </p:txBody>
      </p:sp>
      <p:sp>
        <p:nvSpPr>
          <p:cNvPr id="58" name="Shape 48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9" name="Text 49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chatbot is grounded in a focused government-scheme knowledge base.</a:t>
            </a:r>
            <a:endParaRPr lang="en-US" sz="1500" dirty="0"/>
          </a:p>
        </p:txBody>
      </p:sp>
      <p:sp>
        <p:nvSpPr>
          <p:cNvPr id="60" name="Text 5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interaction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943600" cy="530352"/>
          </a:xfrm>
          <a:prstGeom prst="roundRect">
            <a:avLst>
              <a:gd name="adj" fmla="val 2413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94360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73352"/>
            <a:ext cx="310896" cy="310896"/>
          </a:xfrm>
          <a:prstGeom prst="ellipse">
            <a:avLst/>
          </a:prstGeom>
          <a:solidFill>
            <a:srgbClr val="0B4A6E"/>
          </a:solidFill>
          <a:ln/>
        </p:spPr>
      </p:sp>
      <p:pic>
        <p:nvPicPr>
          <p:cNvPr id="8" name="Image 0" descr="/home/claude/schemesaathi/icons/comment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735531"/>
            <a:ext cx="186538" cy="1865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6550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 Chat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2286000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37744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किसानों के लिए कौन सी सरकारी योजनाएं उपलब्ध हैं?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2999232"/>
            <a:ext cx="5303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9848" y="3090672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किसानों के लिए कई योजनाएं उपलब्ध हैं। आपके प्रश्न के आधार पर कुछ योजनाएं: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3767328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51560" y="3822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51560" y="40782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support for eligible farmer families.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8680" y="4480560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51560" y="4535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PMFBY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51560" y="47914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insurance support for farmers.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8680" y="5193792"/>
            <a:ext cx="5303520" cy="603504"/>
          </a:xfrm>
          <a:prstGeom prst="roundRect">
            <a:avLst>
              <a:gd name="adj" fmla="val 13636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51560" y="52486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 Credit Card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51560" y="5504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support for agricultural needs.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68680" y="5760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PM-KISAN – Official Source   ·   PMFBY – Official Source   ·   Kisan Credit Card – Official Source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03720" y="1828800"/>
            <a:ext cx="4709160" cy="27432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78040" y="2057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Query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278624" y="2450592"/>
            <a:ext cx="16459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7178040" y="2743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Information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278624" y="3136392"/>
            <a:ext cx="164592" cy="21945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9" name="Text 26"/>
          <p:cNvSpPr/>
          <p:nvPr/>
        </p:nvSpPr>
        <p:spPr>
          <a:xfrm>
            <a:off x="7178040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Answer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178040" y="39776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language preservation, start to finish.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903720" y="4892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working prototype demo screen — illustrative of real interaction flow.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our project novel?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492240" cy="713232"/>
          </a:xfrm>
          <a:prstGeom prst="roundRect">
            <a:avLst>
              <a:gd name="adj" fmla="val 11538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6" name="Image 0" descr="/home/claude/schemesaathi/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99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Language-Agnostic Interaction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communicate naturally in supported Indian languages.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6492240" cy="713232"/>
          </a:xfrm>
          <a:prstGeom prst="roundRect">
            <a:avLst>
              <a:gd name="adj" fmla="val 11538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414016"/>
            <a:ext cx="457200" cy="45720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11" name="Image 1" descr="/home/claude/schemesaathi/icons/fileLi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5146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3591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Government-Focused RAG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25880" y="2633472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information specifically from a curated scheme knowledge base.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6492240" cy="713232"/>
          </a:xfrm>
          <a:prstGeom prst="roundRect">
            <a:avLst>
              <a:gd name="adj" fmla="val 11538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218688"/>
            <a:ext cx="457200" cy="45720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16" name="Image 2" descr="/home/claude/schemesaathi/icons/magnifying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3192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6382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Semantic Understanding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5880" y="3438144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meaning &amp; intent, not simple keyword matching.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95344"/>
            <a:ext cx="6492240" cy="713232"/>
          </a:xfrm>
          <a:prstGeom prst="roundRect">
            <a:avLst>
              <a:gd name="adj" fmla="val 11538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023360"/>
            <a:ext cx="457200" cy="45720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21" name="Image 3" descr="/home/claude/schemesaathi/icons/robo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1239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9684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Source-Grounded Generation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325880" y="424281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answers using retrieved scheme information.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700016"/>
            <a:ext cx="6492240" cy="713232"/>
          </a:xfrm>
          <a:prstGeom prst="roundRect">
            <a:avLst>
              <a:gd name="adj" fmla="val 11538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828032"/>
            <a:ext cx="457200" cy="45720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26" name="Image 4" descr="/home/claude/schemesaathi/icons/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9286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7731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End-to-End Language Preservation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25880" y="5047488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understanding → retrieval → generation → answer, same language throughout.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406640" y="160020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406640" y="21671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7406640" y="2459736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7406640" y="24597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406640" y="3026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7406640" y="3319272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406640" y="33192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406640" y="3886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7406640" y="417880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7406640" y="41788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KNOWLEDGE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406640" y="47457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41" name="Shape 34"/>
          <p:cNvSpPr/>
          <p:nvPr/>
        </p:nvSpPr>
        <p:spPr>
          <a:xfrm>
            <a:off x="7406640" y="5111496"/>
            <a:ext cx="4206240" cy="65836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7406640" y="5111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SCHEMESAATHI</a:t>
            </a:r>
            <a:endParaRPr lang="en-US" sz="1800" dirty="0"/>
          </a:p>
        </p:txBody>
      </p:sp>
      <p:sp>
        <p:nvSpPr>
          <p:cNvPr id="43" name="Shape 36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innovation combines multilingual interaction with grounded government-scheme retrieval in a simple citizen-facing interface.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today. Possibilities tomorrow.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3886200"/>
          </a:xfrm>
          <a:prstGeom prst="roundRect">
            <a:avLst>
              <a:gd name="adj" fmla="val 2118"/>
            </a:avLst>
          </a:prstGeom>
          <a:solidFill>
            <a:srgbClr val="F5F9FC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140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95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text-based interaction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8895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70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knowledge base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" y="336499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384048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responses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" y="431596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97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generation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672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Source-oriented answers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52669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148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Citizen-friendly explanations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1600200"/>
            <a:ext cx="516636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600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2148840"/>
            <a:ext cx="5166360" cy="3886200"/>
          </a:xfrm>
          <a:prstGeom prst="roundRect">
            <a:avLst>
              <a:gd name="adj" fmla="val 2118"/>
            </a:avLst>
          </a:prstGeom>
          <a:solidFill>
            <a:srgbClr val="EAF2F7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1112" y="24140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295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Indian languages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11112" y="28895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2770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&amp; responses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33649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eligibility assistance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11112" y="38404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scheme updates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11112" y="43159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4197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links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11112" y="47914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4672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WhatsApp integration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11112" y="52669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5148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continuously updated knowledge base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1C3A6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291840"/>
            <a:ext cx="5943600" cy="5943600"/>
          </a:xfrm>
          <a:prstGeom prst="ellipse">
            <a:avLst/>
          </a:prstGeom>
          <a:solidFill>
            <a:srgbClr val="1C3A6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SchemeSaathi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71700" y="1453896"/>
            <a:ext cx="548640" cy="54864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7" name="Image 0" descr="/home/claude/schemesaathi/icons/triangle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157734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30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information can be difficult to discover and understand.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2344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66460" y="1453896"/>
            <a:ext cx="548640" cy="54864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12" name="Image 1" descr="/home/claude/schemesaathi/icons/puzzlePie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57734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130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0916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AI chatbot using RAG and semantic search to retrieve and explain scheme information conversationally.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75320" y="12344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2A3468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761220" y="1453896"/>
            <a:ext cx="548640" cy="548640"/>
          </a:xfrm>
          <a:prstGeom prst="ellipse">
            <a:avLst/>
          </a:prstGeom>
          <a:solidFill>
            <a:srgbClr val="18305C"/>
          </a:solidFill>
          <a:ln/>
        </p:spPr>
      </p:sp>
      <p:pic>
        <p:nvPicPr>
          <p:cNvPr id="17" name="Image 2" descr="/home/claude/schemesaathi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1577340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130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503920" y="2468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6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your language → Retrieve relevant information → Get a grounded answer in your language.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" y="3703320"/>
            <a:ext cx="10817352" cy="685800"/>
          </a:xfrm>
          <a:prstGeom prst="roundRect">
            <a:avLst>
              <a:gd name="adj" fmla="val 12000"/>
            </a:avLst>
          </a:prstGeom>
          <a:solidFill>
            <a:srgbClr val="18305C"/>
          </a:solidFill>
          <a:ln/>
          <a:effectLst>
            <a:outerShdw sx="100000" sy="100000" kx="0" ky="0" algn="bl" rotWithShape="0" blurRad="101600" dist="25400" dir="5400000">
              <a:srgbClr val="9AA7B2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14400" y="370332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information is useful only when people can understand and access it.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85800" y="470916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85800" y="532180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Chatbot for Government Schemes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5800" y="61264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 |   Team Members   |   University / College   |   Hackathon Name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SchemeSaathi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2026-09-04T22:44:22Z</dcterms:created>
  <dcterms:modified xsi:type="dcterms:W3CDTF">2026-09-04T22:44:22Z</dcterms:modified>
</cp:coreProperties>
</file>